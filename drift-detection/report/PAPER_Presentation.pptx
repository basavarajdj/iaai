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Refit encoders per window</c:v>
                </c:pt>
              </c:strCache>
            </c:strRef>
          </c:tx>
          <c:spPr>
            <a:solidFill>
              <a:srgbClr val="B03A2E"/>
            </a:solidFill>
          </c:spPr>
          <c:cat>
            <c:strRef>
              <c:f>Sheet1!$A$2:$A$5</c:f>
              <c:strCache>
                <c:ptCount val="4"/>
                <c:pt idx="0">
                  <c:v>KS (p only)</c:v>
                </c:pt>
                <c:pt idx="1">
                  <c:v>KS (+effect size)</c:v>
                </c:pt>
                <c:pt idx="2">
                  <c:v>PSI (fixed)</c:v>
                </c:pt>
                <c:pt idx="3">
                  <c:v>PSI (calibrated)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35.1</c:v>
                </c:pt>
                <c:pt idx="1">
                  <c:v>24.6</c:v>
                </c:pt>
                <c:pt idx="2">
                  <c:v>14.0</c:v>
                </c:pt>
                <c:pt idx="3">
                  <c:v>14.0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Frozen encoders (fixed)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Sheet1!$A$2:$A$5</c:f>
              <c:strCache>
                <c:ptCount val="4"/>
                <c:pt idx="0">
                  <c:v>KS (p only)</c:v>
                </c:pt>
                <c:pt idx="1">
                  <c:v>KS (+effect size)</c:v>
                </c:pt>
                <c:pt idx="2">
                  <c:v>PSI (fixed)</c:v>
                </c:pt>
                <c:pt idx="3">
                  <c:v>PSI (calibrated)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Confirmed weeks (of 14)</c:v>
                </c:pt>
              </c:strCache>
            </c:strRef>
          </c:tx>
          <c:spPr>
            <a:solidFill>
              <a:srgbClr val="1F7A8C"/>
            </a:solidFill>
          </c:spPr>
          <c:dPt>
            <c:idx val="0"/>
            <c:spPr>
              <a:solidFill>
                <a:srgbClr val="E07A2C"/>
              </a:solidFill>
            </c:spPr>
          </c:dPt>
          <c:dPt>
            <c:idx val="1"/>
            <c:spPr>
              <a:solidFill>
                <a:srgbClr val="E07A2C"/>
              </a:solidFill>
            </c:spPr>
          </c:dPt>
          <c:cat>
            <c:strRef>
              <c:f>Sheet1!$A$2:$A$13</c:f>
              <c:strCache>
                <c:ptCount val="12"/>
                <c:pt idx="0">
                  <c:v>Prequential
AUC</c:v>
                </c:pt>
                <c:pt idx="1">
                  <c:v>ADWIN</c:v>
                </c:pt>
                <c:pt idx="2">
                  <c:v>EDDM</c:v>
                </c:pt>
                <c:pt idx="3">
                  <c:v>Champion vs
Challenger</c:v>
                </c:pt>
                <c:pt idx="4">
                  <c:v>SHAP</c:v>
                </c:pt>
                <c:pt idx="5">
                  <c:v>Clustering</c:v>
                </c:pt>
                <c:pt idx="6">
                  <c:v>KS</c:v>
                </c:pt>
                <c:pt idx="7">
                  <c:v>PSI</c:v>
                </c:pt>
                <c:pt idx="8">
                  <c:v>JS</c:v>
                </c:pt>
                <c:pt idx="9">
                  <c:v>DDM</c:v>
                </c:pt>
                <c:pt idx="10">
                  <c:v>HDDM</c:v>
                </c:pt>
                <c:pt idx="11">
                  <c:v>Autoencoder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</c:v>
                </c:pt>
              </c:strCache>
            </c:strRef>
          </c:tx>
          <c:spPr>
            <a:solidFill>
              <a:srgbClr val="1F7A8C"/>
            </a:solidFill>
          </c:spP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PSI</c:v>
                </c:pt>
              </c:strCache>
            </c:strRef>
          </c:tx>
          <c:spPr>
            <a:solidFill>
              <a:srgbClr val="0F1B2D"/>
            </a:solidFill>
          </c:spP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0.4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Jensen-Shannon</c:v>
                </c:pt>
              </c:strCache>
            </c:strRef>
          </c:tx>
          <c:spPr>
            <a:solidFill>
              <a:srgbClr val="5A636E"/>
            </a:solidFill>
          </c:spP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0.4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0.5</c:v>
                </c:pt>
                <c:pt idx="12">
                  <c:v>0.4</c:v>
                </c:pt>
                <c:pt idx="13">
                  <c:v>0.4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SHAP (attribution)</c:v>
                </c:pt>
              </c:strCache>
            </c:strRef>
          </c:tx>
          <c:spPr>
            <a:solidFill>
              <a:srgbClr val="E07A2C"/>
            </a:solidFill>
          </c:spP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0.7</c:v>
                </c:pt>
                <c:pt idx="1">
                  <c:v>0.6</c:v>
                </c:pt>
                <c:pt idx="2">
                  <c:v>0.2</c:v>
                </c:pt>
                <c:pt idx="3">
                  <c:v>0.4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  <c:pt idx="7">
                  <c:v>0.3</c:v>
                </c:pt>
                <c:pt idx="8">
                  <c:v>0.4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out-of-sample AUC</c:v>
                </c:pt>
              </c:strCache>
            </c:strRef>
          </c:tx>
          <c:spPr>
            <a:solidFill>
              <a:srgbClr val="1F7A8C"/>
            </a:solidFill>
          </c:spPr>
          <c:dPt>
            <c:idx val="0"/>
            <c:spPr>
              <a:solidFill>
                <a:srgbClr val="E07A2C"/>
              </a:solidFill>
            </c:spPr>
          </c:dPt>
          <c:cat>
            <c:strRef>
              <c:f>Sheet1!$A$2:$A$9</c:f>
              <c:strCache>
                <c:ptCount val="8"/>
                <c:pt idx="0">
                  <c:v>EDDM
(2 retrains)</c:v>
                </c:pt>
                <c:pt idx="1">
                  <c:v>Champ vs
Chall (2)</c:v>
                </c:pt>
                <c:pt idx="2">
                  <c:v>SHAP
(1)</c:v>
                </c:pt>
                <c:pt idx="3">
                  <c:v>Prequential
AUC (6)</c:v>
                </c:pt>
                <c:pt idx="4">
                  <c:v>always_retrain
(13)</c:v>
                </c:pt>
                <c:pt idx="5">
                  <c:v>ADWIN
(5)</c:v>
                </c:pt>
                <c:pt idx="6">
                  <c:v>Clustering
(1)</c:v>
                </c:pt>
                <c:pt idx="7">
                  <c:v>never_retrain
(0)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0.8844</c:v>
                </c:pt>
                <c:pt idx="1">
                  <c:v>0.8838</c:v>
                </c:pt>
                <c:pt idx="2">
                  <c:v>0.879</c:v>
                </c:pt>
                <c:pt idx="3">
                  <c:v>0.8731</c:v>
                </c:pt>
                <c:pt idx="4">
                  <c:v>0.872</c:v>
                </c:pt>
                <c:pt idx="5">
                  <c:v>0.8717</c:v>
                </c:pt>
                <c:pt idx="6">
                  <c:v>0.8698</c:v>
                </c:pt>
                <c:pt idx="7">
                  <c:v>0.8695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out-of-sample AUC</c:v>
                </c:pt>
              </c:strCache>
            </c:strRef>
          </c:tx>
          <c:spPr>
            <a:solidFill>
              <a:srgbClr val="1F7A8C"/>
            </a:solidFill>
          </c:spPr>
          <c:dPt>
            <c:idx val="0"/>
            <c:spPr>
              <a:solidFill>
                <a:srgbClr val="E07A2C"/>
              </a:solidFill>
            </c:spPr>
          </c:dPt>
          <c:cat>
            <c:strRef>
              <c:f>Sheet1!$A$2:$A$14</c:f>
              <c:strCache>
                <c:ptCount val="13"/>
                <c:pt idx="0">
                  <c:v>RL agent
(greedy)</c:v>
                </c:pt>
                <c:pt idx="1">
                  <c:v>RL agent
(Thompson)</c:v>
                </c:pt>
                <c:pt idx="2">
                  <c:v>always partial
update</c:v>
                </c:pt>
                <c:pt idx="3">
                  <c:v>always
retrain</c:v>
                </c:pt>
                <c:pt idx="4">
                  <c:v>Prequential
AUC</c:v>
                </c:pt>
                <c:pt idx="5">
                  <c:v>fixed
every 2w</c:v>
                </c:pt>
                <c:pt idx="6">
                  <c:v>ADWIN</c:v>
                </c:pt>
                <c:pt idx="7">
                  <c:v>fixed
every 4w</c:v>
                </c:pt>
                <c:pt idx="8">
                  <c:v>Champ vs
Chall</c:v>
                </c:pt>
                <c:pt idx="9">
                  <c:v>EDDM</c:v>
                </c:pt>
                <c:pt idx="10">
                  <c:v>SHAP</c:v>
                </c:pt>
                <c:pt idx="11">
                  <c:v>Clustering</c:v>
                </c:pt>
                <c:pt idx="12">
                  <c:v>never
retrain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0.884</c:v>
                </c:pt>
                <c:pt idx="1">
                  <c:v>0.883</c:v>
                </c:pt>
                <c:pt idx="2">
                  <c:v>0.8817</c:v>
                </c:pt>
                <c:pt idx="3">
                  <c:v>0.8743</c:v>
                </c:pt>
                <c:pt idx="4">
                  <c:v>0.8723</c:v>
                </c:pt>
                <c:pt idx="5">
                  <c:v>0.8714</c:v>
                </c:pt>
                <c:pt idx="6">
                  <c:v>0.8698</c:v>
                </c:pt>
                <c:pt idx="7">
                  <c:v>0.8662</c:v>
                </c:pt>
                <c:pt idx="8">
                  <c:v>0.8651</c:v>
                </c:pt>
                <c:pt idx="9">
                  <c:v>0.8643</c:v>
                </c:pt>
                <c:pt idx="10">
                  <c:v>0.8573</c:v>
                </c:pt>
                <c:pt idx="11">
                  <c:v>0.8561</c:v>
                </c:pt>
                <c:pt idx="12">
                  <c:v>0.8516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 gain</c:v>
                </c:pt>
              </c:strCache>
            </c:strRef>
          </c:tx>
          <c:spPr>
            <a:solidFill>
              <a:srgbClr val="E07A2C"/>
            </a:solidFill>
          </c:spPr>
          <c:cat>
            <c:strRef>
              <c:f>Sheet1!$A$2:$A$4</c:f>
              <c:strCache>
                <c:ptCount val="3"/>
                <c:pt idx="0">
                  <c:v>Expanded action space
(cheap partial updates exist)</c:v>
                </c:pt>
                <c:pt idx="1">
                  <c:v>Learned policy
(on top of that space)</c:v>
                </c:pt>
                <c:pt idx="2">
                  <c:v>Drift signals
(vs. model context alone)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0.0094</c:v>
                </c:pt>
                <c:pt idx="1">
                  <c:v>0.0024</c:v>
                </c:pt>
                <c:pt idx="2">
                  <c:v>0.0011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AUC</c:v>
                </c:pt>
              </c:strCache>
            </c:strRef>
          </c:tx>
          <c:spPr>
            <a:solidFill>
              <a:srgbClr val="1F7A8C"/>
            </a:solidFill>
          </c:spPr>
          <c:dPt>
            <c:idx val="0"/>
            <c:spPr>
              <a:solidFill>
                <a:srgbClr val="E07A2C"/>
              </a:solidFill>
            </c:spPr>
          </c:dPt>
          <c:cat>
            <c:strRef>
              <c:f>Sheet1!$A$2:$A$4</c:f>
              <c:strCache>
                <c:ptCount val="3"/>
                <c:pt idx="0">
                  <c:v>Full
(detectors + context)</c:v>
                </c:pt>
                <c:pt idx="1">
                  <c:v>Context only
(no detectors)</c:v>
                </c:pt>
                <c:pt idx="2">
                  <c:v>Signals only
(no model context)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0.884</c:v>
                </c:pt>
                <c:pt idx="1">
                  <c:v>0.883</c:v>
                </c:pt>
                <c:pt idx="2">
                  <c:v>0.884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00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|gradient × input| attribution</c:v>
                </c:pt>
              </c:strCache>
            </c:strRef>
          </c:tx>
          <c:spPr>
            <a:solidFill>
              <a:srgbClr val="5A636E"/>
            </a:solidFill>
          </c:spPr>
          <c:dPt>
            <c:idx val="0"/>
            <c:spPr>
              <a:solidFill>
                <a:srgbClr val="B03A2E"/>
              </a:solidFill>
            </c:spPr>
          </c:dPt>
          <c:cat>
            <c:strRef>
              <c:f>Sheet1!$A$2:$A$7</c:f>
              <c:strCache>
                <c:ptCount val="6"/>
                <c:pt idx="0">
                  <c:v>progress
(position in replay)</c:v>
                </c:pt>
                <c:pt idx="1">
                  <c:v>js_mean_distance</c:v>
                </c:pt>
                <c:pt idx="2">
                  <c:v>weeks_since
full_retrain</c:v>
                </c:pt>
                <c:pt idx="3">
                  <c:v>weeks_since
reference</c:v>
                </c:pt>
                <c:pt idx="4">
                  <c:v>recent_auc
delta</c:v>
                </c:pt>
                <c:pt idx="5">
                  <c:v>autoencoder
z_score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</c:v>
                </c:pt>
                <c:pt idx="1">
                  <c:v>0.214</c:v>
                </c:pt>
                <c:pt idx="2">
                  <c:v>0.197</c:v>
                </c:pt>
                <c:pt idx="3">
                  <c:v>0.136</c:v>
                </c:pt>
                <c:pt idx="4">
                  <c:v>0.128</c:v>
                </c:pt>
                <c:pt idx="5">
                  <c:v>0.09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.000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Learning When and How to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D6E2"/>
                </a:solidFill>
                <a:latin typeface="Calibri"/>
              </a:rPr>
              <a:t>A Reinforcement-Learning Controller over Classical Drift Detectors
for Transaction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2377440" cy="508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FB2C4"/>
                </a:solidFill>
                <a:latin typeface="Calibri"/>
              </a:rPr>
              <a:t>Research paper walkthrough  —  IEEE-CIS Fraud Dataset  •  14-week replay  •  12 classical detectors  •  PPO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B9C"/>
                </a:solidFill>
                <a:latin typeface="Calibri"/>
              </a:rPr>
              <a:t>Companion deck to PAPER.md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1. Motivation — why detection alone isn't the right question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2. Data, features, and the classifier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3. Twelve classical drift detectors, and where each one breaks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4. Measurement before modelling — the null experiment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5. Results: classical detectors and retraining policies, on the real replay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6. Proposed method — drift adaptation as reinforcement learning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7. Implementation — making PPO tractable on 14 windows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8. Results — the RL agent benchmark, honestly decomposed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>
                <a:solidFill>
                  <a:srgbClr val="1C242C"/>
                </a:solidFill>
              </a:rPr>
              <a:t>9. Core innovation, threats to validity,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Detection answers the wrong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Detectors ask: </a:t>
            </a:r>
            <a:r>
              <a:rPr sz="1700" b="0">
                <a:solidFill>
                  <a:srgbClr val="1C242C"/>
                </a:solidFill>
              </a:rPr>
              <a:t>“Has drift occurred?” — a one-shot question.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Operators ask: </a:t>
            </a:r>
            <a:r>
              <a:rPr sz="1700" b="0">
                <a:solidFill>
                  <a:srgbClr val="1C242C"/>
                </a:solidFill>
              </a:rPr>
              <a:t>“Given what I've seen and the model I hold, what should I do this week?” — a sequential one.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Two findings motivate the paper: 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  1. Measurement artifacts, not drift, </a:t>
            </a:r>
            <a:r>
              <a:rPr sz="1700" b="0">
                <a:solidFill>
                  <a:srgbClr val="1C242C"/>
                </a:solidFill>
              </a:rPr>
              <a:t>explained most of the original alarm rate.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  2. Retraining timing, not frequency, </a:t>
            </a:r>
            <a:r>
              <a:rPr sz="1700" b="0">
                <a:solidFill>
                  <a:srgbClr val="1C242C"/>
                </a:solidFill>
              </a:rPr>
              <a:t>is what buys accuracy — and classical detectors are not good at timing.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691640"/>
            <a:ext cx="4709160" cy="1234440"/>
          </a:xfrm>
          <a:prstGeom prst="round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35.1% → 0.9%
false-alarm rate on data
containing NO drift
(null experiment, Section 3.1)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063240"/>
            <a:ext cx="4709160" cy="123444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+0.0149 AUC
from 2 well-timed retrains vs.
+0.0025 AUC from retraining
every single week (13x)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4434840"/>
            <a:ext cx="4709160" cy="12344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0.8840 mean AUC
RL agent vs. 0.8723 best classical
detector vs. 0.8516 never 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6E"/>
                </a:solidFill>
                <a:latin typeface="Calibri"/>
              </a:rPr>
              <a:t>PAPER.md — 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Data and stream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82981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IEEE-CIS Fraud Detection — 590,540 transactions, 394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Prevalence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3.50% positive class (fraud)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Ordering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Sorted by TransactionDT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Reference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First 90 days — fits encoders, selects monitors, trains model v0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Monitored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Consecutive 7-day windows, ~14 evaluation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Retraining data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Cumulative — a retrain at week w uses everything through 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Prequential — each policy scored only on windows it hasn't trained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242C"/>
                          </a:solidFill>
                        </a:rPr>
                        <a:t>Label availability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42C"/>
                          </a:solidFill>
                        </a:rPr>
                        <a:t>Assumed immediate (largest threat to validity, Section 8)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The 3.5% imbalance is not incidental — it is the mechanism behind two of the measurement failures in Section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Features — 149 after a near-constant-column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829818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Billing-to-shipping distance (log), with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Temporal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Cyclic hour encoding, weekday × hour slot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Card identity from card number, address, email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Sequence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Seconds since card's last transaction, amount change, txn index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Amount and its log, cents portion, decimal 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Aggregates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Amount max/mean/variance per email-domain × product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How common each counter value was during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Counter / timedelta / match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Non-zero counts, sums, missingness patterns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C"/>
                          </a:solidFill>
                        </a:rPr>
                        <a:t>Vesta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42C"/>
                          </a:solidFill>
                        </a:rPr>
                        <a:t>2 principal components, missing count, 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The representation is frozen: encoders fit once on the reference window, replayed unchanged — the single most consequential decision in the study (Section 3.1).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Why a neural net, not gradient boosting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Classifier: </a:t>
            </a:r>
            <a:r>
              <a:rPr sz="1700" b="0">
                <a:solidFill>
                  <a:srgbClr val="1C242C"/>
                </a:solidFill>
              </a:rPr>
              <a:t>3-layer PyTorch MLP (256–128–64), BatchNorm, dropout 0.2, class-weighted BCE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Not chosen for accuracy — </a:t>
            </a:r>
            <a:r>
              <a:rPr sz="1700" b="0">
                <a:solidFill>
                  <a:srgbClr val="1C242C"/>
                </a:solidFill>
              </a:rPr>
              <a:t>chosen because it can be partially updated.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A GBDT cannot be fine-tuned. </a:t>
            </a:r>
            <a:r>
              <a:rPr sz="1700" b="0">
                <a:solidFill>
                  <a:srgbClr val="1C242C"/>
                </a:solidFill>
              </a:rPr>
              <a:t>Adding trees isn't adapting; there's no “fine-tune on the last month” for a fixed forest.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With a GBDT, </a:t>
            </a:r>
            <a:r>
              <a:rPr sz="1700" b="0">
                <a:solidFill>
                  <a:srgbClr val="1C242C"/>
                </a:solidFill>
              </a:rPr>
              <a:t>the action space collapses from 4 choices to 2, and the whole question of HOW to adapt disappears.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E07A2C"/>
                </a:solidFill>
              </a:rPr>
              <a:t>•  </a:t>
            </a:r>
            <a:r>
              <a:rPr sz="1700" b="1">
                <a:solidFill>
                  <a:srgbClr val="1C242C"/>
                </a:solidFill>
              </a:rPr>
              <a:t>A differentiable model </a:t>
            </a:r>
            <a:r>
              <a:rPr sz="1700" b="0">
                <a:solidFill>
                  <a:srgbClr val="1C242C"/>
                </a:solidFill>
              </a:rPr>
              <a:t>makes the middle ground real — and its cost measurable (Section 5.4).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691640"/>
            <a:ext cx="4480560" cy="457200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Action space 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331720"/>
            <a:ext cx="4480560" cy="1051560"/>
          </a:xfrm>
          <a:prstGeom prst="roundRect">
            <a:avLst/>
          </a:prstGeom>
          <a:solidFill>
            <a:srgbClr val="5A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GBDT
Do nothing  |  Full retrain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611880"/>
            <a:ext cx="4480560" cy="173736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Neural net (this paper)
Do nothing | Partial update |
Full retrain | Hedge ensemble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6E"/>
                </a:solidFill>
                <a:latin typeface="Calibri"/>
              </a:rPr>
              <a:t>Three classifier bugs (F1=0.0000 on every window) are documented in Section 3.3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The twelve classical detectors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54"/>
                <a:gridCol w="2876702"/>
                <a:gridCol w="3540556"/>
                <a:gridCol w="1327708"/>
                <a:gridCol w="2655417"/>
              </a:tblGrid>
              <a:tr h="34465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Detector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Observes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Labels?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KS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Feature marginals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Distributional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PSI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Binned marginals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Distributional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Jensen-Shannon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Binned marginals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Distributional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DDM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Error stream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EDDM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Inter-error distances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HDDM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Error stream (Hoeffding)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ADWIN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Prediction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Performance-adjacent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SHAP / attribution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Attribution distributions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Explanation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Joint geometry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Autoencoder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Reconstruction error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Representation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Prequential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Ranking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C242C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Champion vs Challenger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Value of retraining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42C"/>
                          </a:solidFill>
                        </a:rPr>
                        <a:t>Shadow model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Every detector picks one point on a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 b="1">
                <a:solidFill>
                  <a:srgbClr val="1C242C"/>
                </a:solidFill>
              </a:rPr>
              <a:t>Label-free detectors </a:t>
            </a:r>
            <a:r>
              <a:rPr sz="1900" b="0">
                <a:solidFill>
                  <a:srgbClr val="1C242C"/>
                </a:solidFill>
              </a:rPr>
              <a:t>(KS, PSI, JS, clustering, autoencoder, ADWIN, attribution) run continuously but are structurally blind, or nearly so, to concept drift.</a:t>
            </a:r>
          </a:p>
          <a:p>
            <a:pPr algn="l">
              <a:spcAft>
                <a:spcPts val="20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 b="1">
                <a:solidFill>
                  <a:srgbClr val="1C242C"/>
                </a:solidFill>
              </a:rPr>
              <a:t>Performance detectors </a:t>
            </a:r>
            <a:r>
              <a:rPr sz="1900" b="0">
                <a:solidFill>
                  <a:srgbClr val="1C242C"/>
                </a:solidFill>
              </a:rPr>
              <a:t>(DDM, EDDM, HDDM, prequential AUC, Champion-vs-Challenger) see what matters but only after labels arrive — reactive by construction.</a:t>
            </a:r>
          </a:p>
          <a:p>
            <a:pPr algn="l">
              <a:spcAft>
                <a:spcPts val="20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 b="1">
                <a:solidFill>
                  <a:srgbClr val="1C242C"/>
                </a:solidFill>
              </a:rPr>
              <a:t>No detector observes its own model's state. </a:t>
            </a:r>
            <a:r>
              <a:rPr sz="1900" b="0">
                <a:solidFill>
                  <a:srgbClr val="1C242C"/>
                </a:solidFill>
              </a:rPr>
              <a:t>The same signal warrants a retrain if the model is six months stale, and nothing if it was rebuilt last week. None can express that.</a:t>
            </a:r>
          </a:p>
          <a:p>
            <a:pPr algn="l">
              <a:spcAft>
                <a:spcPts val="2000"/>
              </a:spcAft>
            </a:pPr>
            <a:r>
              <a:rPr sz="1900" b="1">
                <a:solidFill>
                  <a:srgbClr val="E07A2C"/>
                </a:solidFill>
              </a:rPr>
              <a:t>•  </a:t>
            </a:r>
            <a:r>
              <a:rPr sz="1900" b="1">
                <a:solidFill>
                  <a:srgbClr val="1C242C"/>
                </a:solidFill>
              </a:rPr>
              <a:t>All of them emit a binary flag. </a:t>
            </a:r>
            <a:r>
              <a:rPr sz="1900" b="0">
                <a:solidFill>
                  <a:srgbClr val="1C242C"/>
                </a:solidFill>
              </a:rPr>
              <a:t>The decision they inform is not binary.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0F1B2D"/>
                </a:solidFill>
                <a:latin typeface="Calibri"/>
              </a:rPr>
              <a:t>A single detector must choose. An agent observing all of them need not — the argument for the RL approach.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The null experiment: is the alarm real?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636E"/>
                </a:solidFill>
                <a:latin typeface="Calibri"/>
              </a:rPr>
              <a:t>Split ONE window into two random halves. No drift can exist between them — every alarm is an artifact of measurement.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188720" y="2103120"/>
          <a:ext cx="97840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36E"/>
                </a:solidFill>
                <a:latin typeface="Calibri"/>
              </a:rPr>
              <a:t>False-positive rate (%) on identical feature definitions — only encoder fitting differs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The classifier never predicted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650" b="1">
                <a:solidFill>
                  <a:srgbClr val="E07A2C"/>
                </a:solidFill>
              </a:rPr>
              <a:t>•  </a:t>
            </a:r>
            <a:r>
              <a:rPr sz="1650" b="1">
                <a:solidFill>
                  <a:srgbClr val="1C242C"/>
                </a:solidFill>
              </a:rPr>
              <a:t>Every model had F1 = 0.0000 </a:t>
            </a:r>
            <a:r>
              <a:rPr sz="1650" b="0">
                <a:solidFill>
                  <a:srgbClr val="1C242C"/>
                </a:solidFill>
              </a:rPr>
              <a:t>on every window, from two compounding causes:</a:t>
            </a:r>
          </a:p>
          <a:p>
            <a:pPr algn="l">
              <a:spcAft>
                <a:spcPts val="1300"/>
              </a:spcAft>
            </a:pPr>
            <a:r>
              <a:rPr sz="1650" b="1">
                <a:solidFill>
                  <a:srgbClr val="E07A2C"/>
                </a:solidFill>
              </a:rPr>
              <a:t>•  </a:t>
            </a:r>
            <a:r>
              <a:rPr sz="1650" b="1">
                <a:solidFill>
                  <a:srgbClr val="1C242C"/>
                </a:solidFill>
              </a:rPr>
              <a:t>  • Early-stopping patience of 5 </a:t>
            </a:r>
            <a:r>
              <a:rPr sz="1650" b="0">
                <a:solidFill>
                  <a:srgbClr val="1C242C"/>
                </a:solidFill>
              </a:rPr>
              <a:t>at lr=0.01 halted training at iteration 1 (a single tree)</a:t>
            </a:r>
          </a:p>
          <a:p>
            <a:pPr algn="l">
              <a:spcAft>
                <a:spcPts val="1300"/>
              </a:spcAft>
            </a:pPr>
            <a:r>
              <a:rPr sz="1650" b="1">
                <a:solidFill>
                  <a:srgbClr val="E07A2C"/>
                </a:solidFill>
              </a:rPr>
              <a:t>•  </a:t>
            </a:r>
            <a:r>
              <a:rPr sz="1650" b="1">
                <a:solidFill>
                  <a:srgbClr val="1C242C"/>
                </a:solidFill>
              </a:rPr>
              <a:t>  • A fixed 0.5 threshold </a:t>
            </a:r>
            <a:r>
              <a:rPr sz="1650" b="0">
                <a:solidFill>
                  <a:srgbClr val="1C242C"/>
                </a:solidFill>
              </a:rPr>
              <a:t>at 3.5% prevalence left essentially no mass above the line</a:t>
            </a:r>
          </a:p>
          <a:p>
            <a:pPr algn="l">
              <a:spcAft>
                <a:spcPts val="1300"/>
              </a:spcAft>
            </a:pPr>
            <a:r>
              <a:rPr sz="1650" b="1">
                <a:solidFill>
                  <a:srgbClr val="E07A2C"/>
                </a:solidFill>
              </a:rPr>
              <a:t>•  </a:t>
            </a:r>
            <a:r>
              <a:rPr sz="1650" b="1">
                <a:solidFill>
                  <a:srgbClr val="1C242C"/>
                </a:solidFill>
              </a:rPr>
              <a:t>DDM / EDDM / HDDM watch a binary error stream — </a:t>
            </a:r>
            <a:r>
              <a:rPr sz="1650" b="0">
                <a:solidFill>
                  <a:srgbClr val="1C242C"/>
                </a:solidFill>
              </a:rPr>
              <a:t>if the model always predicts “not fraud,” that stream IS the label vector.</a:t>
            </a:r>
          </a:p>
          <a:p>
            <a:pPr algn="l">
              <a:spcAft>
                <a:spcPts val="1300"/>
              </a:spcAft>
            </a:pPr>
            <a:r>
              <a:rPr sz="1650" b="1">
                <a:solidFill>
                  <a:srgbClr val="E07A2C"/>
                </a:solidFill>
              </a:rPr>
              <a:t>•  </a:t>
            </a:r>
            <a:r>
              <a:rPr sz="1650" b="1">
                <a:solidFill>
                  <a:srgbClr val="1C242C"/>
                </a:solidFill>
              </a:rPr>
              <a:t>Fix: </a:t>
            </a:r>
            <a:r>
              <a:rPr sz="1650" b="0">
                <a:solidFill>
                  <a:srgbClr val="1C242C"/>
                </a:solidFill>
              </a:rPr>
              <a:t>patience 5→100, temporal validation split, calibrated decision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4206240" cy="1463040"/>
          </a:xfrm>
          <a:prstGeom prst="round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F1 = 0.0000
on every window
(before fix)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611880"/>
            <a:ext cx="4206240" cy="1463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F1 ≈ 0.47
validation F1
(after fix)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2120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Class-balanced error stream (subsampled, not reweighted) amplifies a recall collapse 14× (0.036 → 0.500)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6.1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Confirmed alarms per detector (14-week replay)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105156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Every feature-marginal (label-free) detector stayed silent. This stream's drift is CONCEPT drift, not covariate shift — label-free monitoring alone would have caught nothing.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2.1 / 6.1.1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Distributional detectors never approach consensus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9164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15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Fraction of the 10 monitored features crossing threshold, per week. The 0.60 consensus line (dashed, add manually if desired) is never reached by KS/PSI/JS; SHAP peaks at 0.70 in week 1 but needs 2 consecutive weeks to confirm.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6.2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Retraining every week is nearly worthless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EDDM's 2 well-timed retrains (+0.0149 AUC) beat always_retrain's 13 retrains (+0.0025 AUC) at 15% of the cost. ADWIN and Prequential AUC rank worse than random policies of equal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Drift adaptation as a Markov Decision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468880" cy="1188720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STATE
11 drift signals +
6 model-context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606040"/>
            <a:ext cx="1005840" cy="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60520" y="2011680"/>
            <a:ext cx="2468880" cy="118872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
Drift encoder →
policy head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29400" y="2606040"/>
            <a:ext cx="1005840" cy="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80960" y="2011680"/>
            <a:ext cx="3566160" cy="11887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ACTION
Do nothing | Partial update |
Full retrain | Hedge ensemble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3200400"/>
            <a:ext cx="0" cy="100584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680960" y="4251960"/>
            <a:ext cx="3566160" cy="1051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REWARD
100 × (AUC gain over never-retrain)
− 100 × action cost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874519" y="4754880"/>
            <a:ext cx="5760721" cy="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74519" y="3200400"/>
            <a:ext cx="0" cy="155448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next week's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A decision at week t is graded on week t+1 onward — grading it on its own week would let the agent retrain on data it has already been scored against.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691640"/>
            <a:ext cx="3931920" cy="777240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Drift signals + model context (17-dim)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468880"/>
            <a:ext cx="0" cy="41148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926080"/>
            <a:ext cx="3931920" cy="8686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DRIFT ENCODER
2-layer MLP, tanh, shared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108960" y="3794760"/>
            <a:ext cx="2011680" cy="54864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3794760"/>
            <a:ext cx="2011680" cy="548640"/>
          </a:xfrm>
          <a:prstGeom prst="line">
            <a:avLst/>
          </a:prstGeom>
          <a:ln w="28575">
            <a:solidFill>
              <a:srgbClr val="5A63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88720" y="4389120"/>
            <a:ext cx="3840480" cy="10515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POLICY HEAD
4 actions (categorical)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389120"/>
            <a:ext cx="3840480" cy="1051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VALUE HEAD
V(s)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E07A2C"/>
                </a:solidFill>
              </a:rPr>
              <a:t>•  </a:t>
            </a:r>
            <a:r>
              <a:rPr sz="1350">
                <a:solidFill>
                  <a:srgbClr val="1C242C"/>
                </a:solidFill>
              </a:rPr>
              <a:t>Trained with PPO: clipped surrogate objective, GAE(λ=0.95), γ=0.95, entropy bonus 0.02.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E07A2C"/>
                </a:solidFill>
              </a:rPr>
              <a:t>•  </a:t>
            </a:r>
            <a:r>
              <a:rPr sz="1350">
                <a:solidFill>
                  <a:srgbClr val="1C242C"/>
                </a:solidFill>
              </a:rPr>
              <a:t>Exploration: epsilon-greedy (0.30→0.02) during training; Thompson sampling (posterior over actions) in production.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Making PPO tractable on 14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1">
                <a:solidFill>
                  <a:srgbClr val="E07A2C"/>
                </a:solidFill>
              </a:rPr>
              <a:t>•  </a:t>
            </a:r>
            <a:r>
              <a:rPr sz="1600" b="1">
                <a:solidFill>
                  <a:srgbClr val="1C242C"/>
                </a:solidFill>
              </a:rPr>
              <a:t>The problem: </a:t>
            </a:r>
            <a:r>
              <a:rPr sz="1600" b="0">
                <a:solidFill>
                  <a:srgbClr val="1C242C"/>
                </a:solidFill>
              </a:rPr>
              <a:t>PPO needs thousands of episodes; the dataset provides ONE trajectory.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E07A2C"/>
                </a:solidFill>
              </a:rPr>
              <a:t>•  </a:t>
            </a:r>
            <a:r>
              <a:rPr sz="1600" b="1">
                <a:solidFill>
                  <a:srgbClr val="1C242C"/>
                </a:solidFill>
              </a:rPr>
              <a:t>The insight: </a:t>
            </a:r>
            <a:r>
              <a:rPr sz="1600" b="0">
                <a:solidFill>
                  <a:srgbClr val="1C242C"/>
                </a:solidFill>
              </a:rPr>
              <a:t>the reachable model space is fully determined by (last full retrain week, last partial update week, ensemble α) — small and enumerable.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E07A2C"/>
                </a:solidFill>
              </a:rPr>
              <a:t>•  </a:t>
            </a:r>
            <a:r>
              <a:rPr sz="1600" b="1">
                <a:solidFill>
                  <a:srgbClr val="1C242C"/>
                </a:solidFill>
              </a:rPr>
              <a:t>model_lattice.py </a:t>
            </a:r>
            <a:r>
              <a:rPr sz="1600" b="0">
                <a:solidFill>
                  <a:srgbClr val="1C242C"/>
                </a:solidFill>
              </a:rPr>
              <a:t>enumerates every reachable model ONCE, caches its score on every future week.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E07A2C"/>
                </a:solidFill>
              </a:rPr>
              <a:t>•  </a:t>
            </a:r>
            <a:r>
              <a:rPr sz="1600" b="1">
                <a:solidFill>
                  <a:srgbClr val="1C242C"/>
                </a:solidFill>
              </a:rPr>
              <a:t>Episodes become table lookups </a:t>
            </a:r>
            <a:r>
              <a:rPr sz="1600" b="0">
                <a:solidFill>
                  <a:srgbClr val="1C242C"/>
                </a:solidFill>
              </a:rPr>
              <a:t>— free to simulate, however many PPO needs.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E07A2C"/>
                </a:solidFill>
              </a:rPr>
              <a:t>•  </a:t>
            </a:r>
            <a:r>
              <a:rPr sz="1600" b="1">
                <a:solidFill>
                  <a:srgbClr val="1C242C"/>
                </a:solidFill>
              </a:rPr>
              <a:t>Two design choices bound the space: </a:t>
            </a:r>
            <a:r>
              <a:rPr sz="1600" b="0">
                <a:solidFill>
                  <a:srgbClr val="1C242C"/>
                </a:solidFill>
              </a:rPr>
              <a:t>partial updates are not chained (always re-derive from the last full model), and the ensemble hedge blends toward a fixed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37360"/>
            <a:ext cx="4846320" cy="1051560"/>
          </a:xfrm>
          <a:prstGeom prst="round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Without the lattice:
thousands of model fits
per training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017520"/>
            <a:ext cx="4846320" cy="1051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With the lattice:
120 models, 600 cached states,
episodes = lookups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4343400"/>
            <a:ext cx="4846320" cy="13716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Bonus: every retraining policy
(learned, classical, random control)
becomes comparable on the SAME
model space — zero seed noise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6.3 — 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RL agent tops every classical policy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105156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All policies act on the SAME neural classifier and precomputed lattice — differences are decisions, not training randomness. RL agent beats the best classical detector by +0.0118 AUC and never-retraining by +0.0325.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6.3 — THE HONEST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Where the RL agent's advantage actually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105156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A naive policy that fine-tunes every week — no learning, no drift signals — already reaches 0.8817. ~80% of the total gain comes from HAVING a cheap adaptation option, not from learning when to use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6.4 —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Do the drift detectors actually contribute?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105156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A negative result, reported as such: removing every drift signal costs 0.0011 AUC. All three variants converge to the identical policy — 1 full retrain, 12 partial updates.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What does the agent's policy actually rely 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00200"/>
          <a:ext cx="105156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36E"/>
                </a:solidFill>
                <a:latin typeface="Calibri"/>
              </a:rPr>
              <a:t>The single largest driver is WHERE WE ARE IN THE YEAR — four times any drift signal. The agent has substantially learned a calendar, not a drift-conditioned policy.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6.5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Catastrophic forgetting, measured (not assumed)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4967"/>
                <a:gridCol w="3319272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C242C"/>
                          </a:solidFill>
                        </a:rPr>
                        <a:t>Cases where hedging would have helped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C242C"/>
                          </a:solidFill>
                        </a:rP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C242C"/>
                          </a:solidFill>
                        </a:rPr>
                        <a:t>Max AUC lost by trusting the fine-tune fully (α=1)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C242C"/>
                          </a:solidFill>
                        </a:rPr>
                        <a:t>0.0182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C242C"/>
                          </a:solidFill>
                        </a:rPr>
                        <a:t>Mean AUC lost, where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C242C"/>
                          </a:solidFill>
                        </a:rPr>
                        <a:t>0.0036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C242C"/>
                          </a:solidFill>
                        </a:rPr>
                        <a:t>Best hedge weight = 0.75 (light correction)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C242C"/>
                          </a:solidFill>
                        </a:rPr>
                        <a:t>221 cases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C242C"/>
                          </a:solidFill>
                        </a:rPr>
                        <a:t>Best hedge weight ≤ 0.50 (heavy correction)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C242C"/>
                          </a:solidFill>
                        </a:rPr>
                        <a:t>50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36E"/>
                </a:solidFill>
                <a:latin typeface="Calibri"/>
              </a:rPr>
              <a:t>Forgetting is real but mild here — and the trained agent never used the free hedge action, a missed opportunity.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Core innovation, stated precisely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1. Reframing detection as sequential control. </a:t>
            </a:r>
            <a:r>
              <a:rPr sz="1750" b="0">
                <a:solidFill>
                  <a:srgbClr val="1C242C"/>
                </a:solidFill>
              </a:rPr>
              <a:t>The state is the ensemble of detector outputs, not any one of them.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2. A richer action space. </a:t>
            </a:r>
            <a:r>
              <a:rPr sz="1750" b="0">
                <a:solidFill>
                  <a:srgbClr val="1C242C"/>
                </a:solidFill>
              </a:rPr>
              <a:t>This is what actually paid — +0.0094 AUC, ~80% of the total gain. Only possible with a differentiable model.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3. Detectors as sensors, not decision rules. </a:t>
            </a:r>
            <a:r>
              <a:rPr sz="1750" b="0">
                <a:solidFill>
                  <a:srgbClr val="1C242C"/>
                </a:solidFill>
              </a:rPr>
              <a:t>Fed as continuous statistics to a learned controller — though our own experiment doesn't support this part (+0.0011 AUC only).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4. The model lattice as an experimental instrument. </a:t>
            </a:r>
            <a:r>
              <a:rPr sz="1750" b="0">
                <a:solidFill>
                  <a:srgbClr val="1C242C"/>
                </a:solidFill>
              </a:rPr>
              <a:t>Turns every policy — learned, classical, random control — into a table lookup.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5. A calibration protocol for drift monitors. </a:t>
            </a:r>
            <a:r>
              <a:rPr sz="1750" b="0">
                <a:solidFill>
                  <a:srgbClr val="1C242C"/>
                </a:solidFill>
              </a:rPr>
              <a:t>The null experiment should precede any drift study — it caught 3 defects that survived code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libri"/>
              </a:rPr>
              <a:t>Threats to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Label latency </a:t>
            </a:r>
            <a:r>
              <a:rPr sz="1750" b="0">
                <a:solidFill>
                  <a:srgbClr val="1C242C"/>
                </a:solidFill>
              </a:rPr>
              <a:t>— we assume immediate labels; real fraud labels lag weeks. Largest threat.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Cumulative retraining only </a:t>
            </a:r>
            <a:r>
              <a:rPr sz="1750" b="0">
                <a:solidFill>
                  <a:srgbClr val="1C242C"/>
                </a:solidFill>
              </a:rPr>
              <a:t>— the “frequency barely helps” finding is specific to cumulative windows.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Fourteen decision points, one dataset </a:t>
            </a:r>
            <a:r>
              <a:rPr sz="1750" b="0">
                <a:solidFill>
                  <a:srgbClr val="1C242C"/>
                </a:solidFill>
              </a:rPr>
              <a:t>— directions are clearer than magnitudes.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Agent trained and evaluated on the same replay </a:t>
            </a:r>
            <a:r>
              <a:rPr sz="1750" b="0">
                <a:solidFill>
                  <a:srgbClr val="1C242C"/>
                </a:solidFill>
              </a:rPr>
              <a:t>— its performance is an upper bound on an online agent.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Lattice restrictions </a:t>
            </a:r>
            <a:r>
              <a:rPr sz="1750" b="0">
                <a:solidFill>
                  <a:srgbClr val="1C242C"/>
                </a:solidFill>
              </a:rPr>
              <a:t>— partial updates unchained, ensemble is 2-component with 5 discrete weights.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E07A2C"/>
                </a:solidFill>
              </a:rPr>
              <a:t>•  </a:t>
            </a:r>
            <a:r>
              <a:rPr sz="1750" b="1">
                <a:solidFill>
                  <a:srgbClr val="1C242C"/>
                </a:solidFill>
              </a:rPr>
              <a:t>Frozen representation </a:t>
            </a:r>
            <a:r>
              <a:rPr sz="1750" b="0">
                <a:solidFill>
                  <a:srgbClr val="1C242C"/>
                </a:solidFill>
              </a:rPr>
              <a:t>— deliberate, but drift is measured relative to a fixed feature space.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7A8C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actually mattered,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A2C"/>
                </a:solidFill>
                <a:latin typeface="Calibri"/>
              </a:rPr>
              <a:t>1.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1EA"/>
                </a:solidFill>
                <a:latin typeface="Calibri"/>
              </a:rPr>
              <a:t>35.1% of features alarmed on data with no drift; F1=0.0000 on every window. Nothing downstream matters until this is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A2C"/>
                </a:solidFill>
                <a:latin typeface="Calibri"/>
              </a:rPr>
              <a:t>2. The action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1EA"/>
                </a:solidFill>
                <a:latin typeface="Calibri"/>
              </a:rPr>
              <a:t>+0.0094 AUC (~80% of total gain) from a cheap partial-update option existing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A2C"/>
                </a:solidFill>
                <a:latin typeface="Calibri"/>
              </a:rPr>
              <a:t>3. Timing — third and modest.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1EA"/>
                </a:solidFill>
                <a:latin typeface="Calibri"/>
              </a:rPr>
              <a:t>The learned policy adds +0.0024 AUC over a naive always-partial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A2C"/>
                </a:solidFill>
                <a:latin typeface="Calibri"/>
              </a:rPr>
              <a:t>4. Detector fusion — essentially not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1EA"/>
                </a:solidFill>
                <a:latin typeface="Calibri"/>
              </a:rPr>
              <a:t>Removing every drift signal costs only 0.0011 AUC; the policy substantially learned a calendar.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FB2C4"/>
                </a:solidFill>
                <a:latin typeface="Calibri"/>
              </a:rPr>
              <a:t>We report (4) as a negative result rather than omitting it — the headline number alone would be true and misleading.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